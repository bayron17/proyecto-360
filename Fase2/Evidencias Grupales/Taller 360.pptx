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Was Gayji NP" charset="1" panose="02000506000000020003"/>
      <p:regular r:id="rId12"/>
    </p:embeddedFont>
    <p:embeddedFont>
      <p:font typeface="Bank Gothic Light" charset="1" panose="020B0607020203060204"/>
      <p:regular r:id="rId13"/>
    </p:embeddedFont>
    <p:embeddedFont>
      <p:font typeface="Bank Gothic Medium" charset="1" panose="020B0807020203060204"/>
      <p:regular r:id="rId14"/>
    </p:embeddedFont>
    <p:embeddedFont>
      <p:font typeface="Exo 2" charset="1" panose="0000050000000000000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11" Target="../media/image10.png" Type="http://schemas.openxmlformats.org/officeDocument/2006/relationships/image"/><Relationship Id="rId12" Target="../media/image11.svg" Type="http://schemas.openxmlformats.org/officeDocument/2006/relationships/image"/><Relationship Id="rId13" Target="../media/image12.png" Type="http://schemas.openxmlformats.org/officeDocument/2006/relationships/image"/><Relationship Id="rId14" Target="../media/image13.svg" Type="http://schemas.openxmlformats.org/officeDocument/2006/relationships/image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11" Target="../media/image14.png" Type="http://schemas.openxmlformats.org/officeDocument/2006/relationships/image"/><Relationship Id="rId12" Target="../media/image15.svg" Type="http://schemas.openxmlformats.org/officeDocument/2006/relationships/image"/><Relationship Id="rId13" Target="../media/image16.png" Type="http://schemas.openxmlformats.org/officeDocument/2006/relationships/image"/><Relationship Id="rId14" Target="../media/image17.svg" Type="http://schemas.openxmlformats.org/officeDocument/2006/relationships/image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6.png" Type="http://schemas.openxmlformats.org/officeDocument/2006/relationships/image"/><Relationship Id="rId11" Target="../media/image17.svg" Type="http://schemas.openxmlformats.org/officeDocument/2006/relationships/image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8.png" Type="http://schemas.openxmlformats.org/officeDocument/2006/relationships/image"/><Relationship Id="rId7" Target="../media/image9.svg" Type="http://schemas.openxmlformats.org/officeDocument/2006/relationships/image"/><Relationship Id="rId8" Target="../media/image14.png" Type="http://schemas.openxmlformats.org/officeDocument/2006/relationships/image"/><Relationship Id="rId9" Target="../media/image15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7.svg" Type="http://schemas.openxmlformats.org/officeDocument/2006/relationships/image"/><Relationship Id="rId2" Target="../media/image1.jpeg" Type="http://schemas.openxmlformats.org/officeDocument/2006/relationships/image"/><Relationship Id="rId3" Target="../media/image4.pn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7.png" Type="http://schemas.openxmlformats.org/officeDocument/2006/relationships/image"/><Relationship Id="rId7" Target="../media/image14.png" Type="http://schemas.openxmlformats.org/officeDocument/2006/relationships/image"/><Relationship Id="rId8" Target="../media/image15.svg" Type="http://schemas.openxmlformats.org/officeDocument/2006/relationships/image"/><Relationship Id="rId9" Target="../media/image16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Relationship Id="rId5" Target="../media/image14.png" Type="http://schemas.openxmlformats.org/officeDocument/2006/relationships/image"/><Relationship Id="rId6" Target="../media/image15.svg" Type="http://schemas.openxmlformats.org/officeDocument/2006/relationships/image"/><Relationship Id="rId7" Target="../media/image16.png" Type="http://schemas.openxmlformats.org/officeDocument/2006/relationships/image"/><Relationship Id="rId8" Target="../media/image17.svg" Type="http://schemas.openxmlformats.org/officeDocument/2006/relationships/image"/><Relationship Id="rId9" Target="../media/image18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11" Target="../media/image12.png" Type="http://schemas.openxmlformats.org/officeDocument/2006/relationships/image"/><Relationship Id="rId12" Target="../media/image13.svg" Type="http://schemas.openxmlformats.org/officeDocument/2006/relationships/image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FDA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898414" y="-370970"/>
            <a:ext cx="20372816" cy="10975855"/>
          </a:xfrm>
          <a:custGeom>
            <a:avLst/>
            <a:gdLst/>
            <a:ahLst/>
            <a:cxnLst/>
            <a:rect r="r" b="b" t="t" l="l"/>
            <a:pathLst>
              <a:path h="10975855" w="20372816">
                <a:moveTo>
                  <a:pt x="0" y="0"/>
                </a:moveTo>
                <a:lnTo>
                  <a:pt x="20372816" y="0"/>
                </a:lnTo>
                <a:lnTo>
                  <a:pt x="20372816" y="10975855"/>
                </a:lnTo>
                <a:lnTo>
                  <a:pt x="0" y="1097585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90243" y="1357565"/>
            <a:ext cx="7272716" cy="7518785"/>
          </a:xfrm>
          <a:custGeom>
            <a:avLst/>
            <a:gdLst/>
            <a:ahLst/>
            <a:cxnLst/>
            <a:rect r="r" b="b" t="t" l="l"/>
            <a:pathLst>
              <a:path h="7518785" w="7272716">
                <a:moveTo>
                  <a:pt x="0" y="0"/>
                </a:moveTo>
                <a:lnTo>
                  <a:pt x="7272715" y="0"/>
                </a:lnTo>
                <a:lnTo>
                  <a:pt x="7272715" y="7518785"/>
                </a:lnTo>
                <a:lnTo>
                  <a:pt x="0" y="751878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48821" y="8876350"/>
            <a:ext cx="4655864" cy="922707"/>
          </a:xfrm>
          <a:custGeom>
            <a:avLst/>
            <a:gdLst/>
            <a:ahLst/>
            <a:cxnLst/>
            <a:rect r="r" b="b" t="t" l="l"/>
            <a:pathLst>
              <a:path h="922707" w="4655864">
                <a:moveTo>
                  <a:pt x="0" y="0"/>
                </a:moveTo>
                <a:lnTo>
                  <a:pt x="4655864" y="0"/>
                </a:lnTo>
                <a:lnTo>
                  <a:pt x="4655864" y="922708"/>
                </a:lnTo>
                <a:lnTo>
                  <a:pt x="0" y="92270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258818" y="555017"/>
            <a:ext cx="8444224" cy="8444224"/>
          </a:xfrm>
          <a:custGeom>
            <a:avLst/>
            <a:gdLst/>
            <a:ahLst/>
            <a:cxnLst/>
            <a:rect r="r" b="b" t="t" l="l"/>
            <a:pathLst>
              <a:path h="8444224" w="8444224">
                <a:moveTo>
                  <a:pt x="0" y="0"/>
                </a:moveTo>
                <a:lnTo>
                  <a:pt x="8444224" y="0"/>
                </a:lnTo>
                <a:lnTo>
                  <a:pt x="8444224" y="8444225"/>
                </a:lnTo>
                <a:lnTo>
                  <a:pt x="0" y="844422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28700" y="1695629"/>
            <a:ext cx="5724121" cy="6163002"/>
          </a:xfrm>
          <a:custGeom>
            <a:avLst/>
            <a:gdLst/>
            <a:ahLst/>
            <a:cxnLst/>
            <a:rect r="r" b="b" t="t" l="l"/>
            <a:pathLst>
              <a:path h="6163002" w="5724121">
                <a:moveTo>
                  <a:pt x="0" y="0"/>
                </a:moveTo>
                <a:lnTo>
                  <a:pt x="5724121" y="0"/>
                </a:lnTo>
                <a:lnTo>
                  <a:pt x="5724121" y="6163001"/>
                </a:lnTo>
                <a:lnTo>
                  <a:pt x="0" y="616300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2757176" y="6609861"/>
            <a:ext cx="3447509" cy="2971126"/>
          </a:xfrm>
          <a:custGeom>
            <a:avLst/>
            <a:gdLst/>
            <a:ahLst/>
            <a:cxnLst/>
            <a:rect r="r" b="b" t="t" l="l"/>
            <a:pathLst>
              <a:path h="2971126" w="3447509">
                <a:moveTo>
                  <a:pt x="0" y="0"/>
                </a:moveTo>
                <a:lnTo>
                  <a:pt x="3447509" y="0"/>
                </a:lnTo>
                <a:lnTo>
                  <a:pt x="3447509" y="2971126"/>
                </a:lnTo>
                <a:lnTo>
                  <a:pt x="0" y="2971126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8581621" y="5817503"/>
            <a:ext cx="9706379" cy="792357"/>
          </a:xfrm>
          <a:custGeom>
            <a:avLst/>
            <a:gdLst/>
            <a:ahLst/>
            <a:cxnLst/>
            <a:rect r="r" b="b" t="t" l="l"/>
            <a:pathLst>
              <a:path h="792357" w="9706379">
                <a:moveTo>
                  <a:pt x="0" y="0"/>
                </a:moveTo>
                <a:lnTo>
                  <a:pt x="9706379" y="0"/>
                </a:lnTo>
                <a:lnTo>
                  <a:pt x="9706379" y="792358"/>
                </a:lnTo>
                <a:lnTo>
                  <a:pt x="0" y="792358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true" flipV="false" rot="0">
            <a:off x="-463915" y="-147326"/>
            <a:ext cx="2599929" cy="1994855"/>
          </a:xfrm>
          <a:custGeom>
            <a:avLst/>
            <a:gdLst/>
            <a:ahLst/>
            <a:cxnLst/>
            <a:rect r="r" b="b" t="t" l="l"/>
            <a:pathLst>
              <a:path h="1994855" w="2599929">
                <a:moveTo>
                  <a:pt x="2599930" y="0"/>
                </a:moveTo>
                <a:lnTo>
                  <a:pt x="0" y="0"/>
                </a:lnTo>
                <a:lnTo>
                  <a:pt x="0" y="1994855"/>
                </a:lnTo>
                <a:lnTo>
                  <a:pt x="2599930" y="1994855"/>
                </a:lnTo>
                <a:lnTo>
                  <a:pt x="259993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true" rot="0">
            <a:off x="15297424" y="7987045"/>
            <a:ext cx="3520674" cy="2701317"/>
          </a:xfrm>
          <a:custGeom>
            <a:avLst/>
            <a:gdLst/>
            <a:ahLst/>
            <a:cxnLst/>
            <a:rect r="r" b="b" t="t" l="l"/>
            <a:pathLst>
              <a:path h="2701317" w="3520674">
                <a:moveTo>
                  <a:pt x="0" y="2701317"/>
                </a:moveTo>
                <a:lnTo>
                  <a:pt x="3520674" y="2701317"/>
                </a:lnTo>
                <a:lnTo>
                  <a:pt x="3520674" y="0"/>
                </a:lnTo>
                <a:lnTo>
                  <a:pt x="0" y="0"/>
                </a:lnTo>
                <a:lnTo>
                  <a:pt x="0" y="2701317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8241656" y="3202098"/>
            <a:ext cx="9415212" cy="27124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865"/>
              </a:lnSpc>
            </a:pPr>
            <a:r>
              <a:rPr lang="en-US" sz="12331">
                <a:solidFill>
                  <a:srgbClr val="404144"/>
                </a:solidFill>
                <a:latin typeface="Was Gayji NP"/>
                <a:ea typeface="Was Gayji NP"/>
                <a:cs typeface="Was Gayji NP"/>
                <a:sym typeface="Was Gayji NP"/>
              </a:rPr>
              <a:t>TALLER</a:t>
            </a:r>
          </a:p>
          <a:p>
            <a:pPr algn="ctr">
              <a:lnSpc>
                <a:spcPts val="9865"/>
              </a:lnSpc>
            </a:pPr>
            <a:r>
              <a:rPr lang="en-US" sz="12331">
                <a:solidFill>
                  <a:srgbClr val="404144"/>
                </a:solidFill>
                <a:latin typeface="Was Gayji NP"/>
                <a:ea typeface="Was Gayji NP"/>
                <a:cs typeface="Was Gayji NP"/>
                <a:sym typeface="Was Gayji NP"/>
              </a:rPr>
              <a:t>360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502825" y="5571636"/>
            <a:ext cx="7248475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  <a:spcBef>
                <a:spcPct val="0"/>
              </a:spcBef>
            </a:pPr>
            <a:r>
              <a:rPr lang="en-US" sz="6000">
                <a:solidFill>
                  <a:srgbClr val="FFFFFF"/>
                </a:solidFill>
                <a:latin typeface="Bank Gothic Light"/>
                <a:ea typeface="Bank Gothic Light"/>
                <a:cs typeface="Bank Gothic Light"/>
                <a:sym typeface="Bank Gothic Light"/>
              </a:rPr>
              <a:t>avances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36050" y="8456931"/>
            <a:ext cx="3700462" cy="15360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60"/>
              </a:lnSpc>
              <a:spcBef>
                <a:spcPct val="0"/>
              </a:spcBef>
            </a:pPr>
            <a:r>
              <a:rPr lang="en-US" sz="2900">
                <a:solidFill>
                  <a:srgbClr val="000000"/>
                </a:solidFill>
                <a:latin typeface="Bank Gothic Medium"/>
                <a:ea typeface="Bank Gothic Medium"/>
                <a:cs typeface="Bank Gothic Medium"/>
                <a:sym typeface="Bank Gothic Medium"/>
              </a:rPr>
              <a:t>Integrantes:</a:t>
            </a:r>
          </a:p>
          <a:p>
            <a:pPr algn="l">
              <a:lnSpc>
                <a:spcPts val="4060"/>
              </a:lnSpc>
              <a:spcBef>
                <a:spcPct val="0"/>
              </a:spcBef>
            </a:pPr>
            <a:r>
              <a:rPr lang="en-US" sz="2900">
                <a:solidFill>
                  <a:srgbClr val="000000"/>
                </a:solidFill>
                <a:latin typeface="Bank Gothic Medium"/>
                <a:ea typeface="Bank Gothic Medium"/>
                <a:cs typeface="Bank Gothic Medium"/>
                <a:sym typeface="Bank Gothic Medium"/>
              </a:rPr>
              <a:t>Bayron Quiroz</a:t>
            </a:r>
          </a:p>
          <a:p>
            <a:pPr algn="l">
              <a:lnSpc>
                <a:spcPts val="4060"/>
              </a:lnSpc>
              <a:spcBef>
                <a:spcPct val="0"/>
              </a:spcBef>
            </a:pPr>
            <a:r>
              <a:rPr lang="en-US" sz="2900">
                <a:solidFill>
                  <a:srgbClr val="000000"/>
                </a:solidFill>
                <a:latin typeface="Bank Gothic Medium"/>
                <a:ea typeface="Bank Gothic Medium"/>
                <a:cs typeface="Bank Gothic Medium"/>
                <a:sym typeface="Bank Gothic Medium"/>
              </a:rPr>
              <a:t>Victor Hernandez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FDA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898414" y="-370970"/>
            <a:ext cx="20372816" cy="10975855"/>
          </a:xfrm>
          <a:custGeom>
            <a:avLst/>
            <a:gdLst/>
            <a:ahLst/>
            <a:cxnLst/>
            <a:rect r="r" b="b" t="t" l="l"/>
            <a:pathLst>
              <a:path h="10975855" w="20372816">
                <a:moveTo>
                  <a:pt x="0" y="0"/>
                </a:moveTo>
                <a:lnTo>
                  <a:pt x="20372816" y="0"/>
                </a:lnTo>
                <a:lnTo>
                  <a:pt x="20372816" y="10975855"/>
                </a:lnTo>
                <a:lnTo>
                  <a:pt x="0" y="1097585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32237" b="-32237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421534" y="6609861"/>
            <a:ext cx="5460420" cy="5645171"/>
          </a:xfrm>
          <a:custGeom>
            <a:avLst/>
            <a:gdLst/>
            <a:ahLst/>
            <a:cxnLst/>
            <a:rect r="r" b="b" t="t" l="l"/>
            <a:pathLst>
              <a:path h="5645171" w="5460420">
                <a:moveTo>
                  <a:pt x="0" y="0"/>
                </a:moveTo>
                <a:lnTo>
                  <a:pt x="5460419" y="0"/>
                </a:lnTo>
                <a:lnTo>
                  <a:pt x="5460419" y="5645171"/>
                </a:lnTo>
                <a:lnTo>
                  <a:pt x="0" y="564517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00902" y="9411318"/>
            <a:ext cx="1956482" cy="387739"/>
          </a:xfrm>
          <a:custGeom>
            <a:avLst/>
            <a:gdLst/>
            <a:ahLst/>
            <a:cxnLst/>
            <a:rect r="r" b="b" t="t" l="l"/>
            <a:pathLst>
              <a:path h="387739" w="1956482">
                <a:moveTo>
                  <a:pt x="0" y="0"/>
                </a:moveTo>
                <a:lnTo>
                  <a:pt x="1956482" y="0"/>
                </a:lnTo>
                <a:lnTo>
                  <a:pt x="1956482" y="387740"/>
                </a:lnTo>
                <a:lnTo>
                  <a:pt x="0" y="38774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258818" y="5914536"/>
            <a:ext cx="3548424" cy="3548424"/>
          </a:xfrm>
          <a:custGeom>
            <a:avLst/>
            <a:gdLst/>
            <a:ahLst/>
            <a:cxnLst/>
            <a:rect r="r" b="b" t="t" l="l"/>
            <a:pathLst>
              <a:path h="3548424" w="3548424">
                <a:moveTo>
                  <a:pt x="0" y="0"/>
                </a:moveTo>
                <a:lnTo>
                  <a:pt x="3548424" y="0"/>
                </a:lnTo>
                <a:lnTo>
                  <a:pt x="3548424" y="3548424"/>
                </a:lnTo>
                <a:lnTo>
                  <a:pt x="0" y="354842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582337" y="6393842"/>
            <a:ext cx="2405385" cy="2589811"/>
          </a:xfrm>
          <a:custGeom>
            <a:avLst/>
            <a:gdLst/>
            <a:ahLst/>
            <a:cxnLst/>
            <a:rect r="r" b="b" t="t" l="l"/>
            <a:pathLst>
              <a:path h="2589811" w="2405385">
                <a:moveTo>
                  <a:pt x="0" y="0"/>
                </a:moveTo>
                <a:lnTo>
                  <a:pt x="2405385" y="0"/>
                </a:lnTo>
                <a:lnTo>
                  <a:pt x="2405385" y="2589811"/>
                </a:lnTo>
                <a:lnTo>
                  <a:pt x="0" y="258981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308675" y="8458896"/>
            <a:ext cx="1448709" cy="1248524"/>
          </a:xfrm>
          <a:custGeom>
            <a:avLst/>
            <a:gdLst/>
            <a:ahLst/>
            <a:cxnLst/>
            <a:rect r="r" b="b" t="t" l="l"/>
            <a:pathLst>
              <a:path h="1248524" w="1448709">
                <a:moveTo>
                  <a:pt x="0" y="0"/>
                </a:moveTo>
                <a:lnTo>
                  <a:pt x="1448709" y="0"/>
                </a:lnTo>
                <a:lnTo>
                  <a:pt x="1448709" y="1248524"/>
                </a:lnTo>
                <a:lnTo>
                  <a:pt x="0" y="124852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2033030" y="1866315"/>
            <a:ext cx="14801588" cy="1208293"/>
          </a:xfrm>
          <a:custGeom>
            <a:avLst/>
            <a:gdLst/>
            <a:ahLst/>
            <a:cxnLst/>
            <a:rect r="r" b="b" t="t" l="l"/>
            <a:pathLst>
              <a:path h="1208293" w="14801588">
                <a:moveTo>
                  <a:pt x="0" y="0"/>
                </a:moveTo>
                <a:lnTo>
                  <a:pt x="14801588" y="0"/>
                </a:lnTo>
                <a:lnTo>
                  <a:pt x="14801588" y="1208293"/>
                </a:lnTo>
                <a:lnTo>
                  <a:pt x="0" y="1208293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true" flipV="false" rot="0">
            <a:off x="-463915" y="-147326"/>
            <a:ext cx="3603326" cy="2764734"/>
          </a:xfrm>
          <a:custGeom>
            <a:avLst/>
            <a:gdLst/>
            <a:ahLst/>
            <a:cxnLst/>
            <a:rect r="r" b="b" t="t" l="l"/>
            <a:pathLst>
              <a:path h="2764734" w="3603326">
                <a:moveTo>
                  <a:pt x="3603327" y="0"/>
                </a:moveTo>
                <a:lnTo>
                  <a:pt x="0" y="0"/>
                </a:lnTo>
                <a:lnTo>
                  <a:pt x="0" y="2764734"/>
                </a:lnTo>
                <a:lnTo>
                  <a:pt x="3603327" y="2764734"/>
                </a:lnTo>
                <a:lnTo>
                  <a:pt x="3603327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true" rot="0">
            <a:off x="16146663" y="7903568"/>
            <a:ext cx="3520674" cy="2701317"/>
          </a:xfrm>
          <a:custGeom>
            <a:avLst/>
            <a:gdLst/>
            <a:ahLst/>
            <a:cxnLst/>
            <a:rect r="r" b="b" t="t" l="l"/>
            <a:pathLst>
              <a:path h="2701317" w="3520674">
                <a:moveTo>
                  <a:pt x="0" y="2701317"/>
                </a:moveTo>
                <a:lnTo>
                  <a:pt x="3520674" y="2701317"/>
                </a:lnTo>
                <a:lnTo>
                  <a:pt x="3520674" y="0"/>
                </a:lnTo>
                <a:lnTo>
                  <a:pt x="0" y="0"/>
                </a:lnTo>
                <a:lnTo>
                  <a:pt x="0" y="2701317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2987722" y="1889437"/>
            <a:ext cx="13179066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00"/>
              </a:lnSpc>
              <a:spcBef>
                <a:spcPct val="0"/>
              </a:spcBef>
            </a:pPr>
            <a:r>
              <a:rPr lang="en-US" sz="6000">
                <a:solidFill>
                  <a:srgbClr val="FFFFFF"/>
                </a:solidFill>
                <a:latin typeface="Bank Gothic Light"/>
                <a:ea typeface="Bank Gothic Light"/>
                <a:cs typeface="Bank Gothic Light"/>
                <a:sym typeface="Bank Gothic Light"/>
              </a:rPr>
              <a:t>Introducion  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533649" y="3224572"/>
            <a:ext cx="10098500" cy="6178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900"/>
              </a:lnSpc>
            </a:pPr>
            <a:r>
              <a:rPr lang="en-US" sz="3500">
                <a:solidFill>
                  <a:srgbClr val="404144"/>
                </a:solidFill>
                <a:latin typeface="Exo 2"/>
                <a:ea typeface="Exo 2"/>
                <a:cs typeface="Exo 2"/>
                <a:sym typeface="Exo 2"/>
              </a:rPr>
              <a:t>Taller360 es una aplicación web/móvil orientada a gestionar y controlar el flujo de trabajo de un taller mecánico.</a:t>
            </a:r>
          </a:p>
          <a:p>
            <a:pPr algn="just">
              <a:lnSpc>
                <a:spcPts val="4900"/>
              </a:lnSpc>
            </a:pPr>
            <a:r>
              <a:rPr lang="en-US" sz="3500">
                <a:solidFill>
                  <a:srgbClr val="404144"/>
                </a:solidFill>
                <a:latin typeface="Exo 2"/>
                <a:ea typeface="Exo 2"/>
                <a:cs typeface="Exo 2"/>
                <a:sym typeface="Exo 2"/>
              </a:rPr>
              <a:t>El sistema busca centralizar las diferentes etapas del proceso, desde el ingreso del cliente y su vehículo hasta la finalización del servicio.</a:t>
            </a:r>
          </a:p>
          <a:p>
            <a:pPr algn="just">
              <a:lnSpc>
                <a:spcPts val="4900"/>
              </a:lnSpc>
            </a:pPr>
            <a:r>
              <a:rPr lang="en-US" sz="3500">
                <a:solidFill>
                  <a:srgbClr val="404144"/>
                </a:solidFill>
                <a:latin typeface="Exo 2"/>
                <a:ea typeface="Exo 2"/>
                <a:cs typeface="Exo 2"/>
                <a:sym typeface="Exo 2"/>
              </a:rPr>
              <a:t>Actualmente, el proyecto cuenta con avances en el diseño de la solución, modelo de datos y desarrollo de los módulos principales.</a:t>
            </a:r>
          </a:p>
          <a:p>
            <a:pPr algn="just">
              <a:lnSpc>
                <a:spcPts val="490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FDA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898414" y="-370970"/>
            <a:ext cx="20372816" cy="10975855"/>
          </a:xfrm>
          <a:custGeom>
            <a:avLst/>
            <a:gdLst/>
            <a:ahLst/>
            <a:cxnLst/>
            <a:rect r="r" b="b" t="t" l="l"/>
            <a:pathLst>
              <a:path h="10975855" w="20372816">
                <a:moveTo>
                  <a:pt x="0" y="0"/>
                </a:moveTo>
                <a:lnTo>
                  <a:pt x="20372816" y="0"/>
                </a:lnTo>
                <a:lnTo>
                  <a:pt x="20372816" y="10975855"/>
                </a:lnTo>
                <a:lnTo>
                  <a:pt x="0" y="1097585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6773" t="0" r="0" b="-16773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905742" y="-910419"/>
            <a:ext cx="5129850" cy="5303417"/>
          </a:xfrm>
          <a:custGeom>
            <a:avLst/>
            <a:gdLst/>
            <a:ahLst/>
            <a:cxnLst/>
            <a:rect r="r" b="b" t="t" l="l"/>
            <a:pathLst>
              <a:path h="5303417" w="5129850">
                <a:moveTo>
                  <a:pt x="0" y="0"/>
                </a:moveTo>
                <a:lnTo>
                  <a:pt x="5129851" y="0"/>
                </a:lnTo>
                <a:lnTo>
                  <a:pt x="5129851" y="5303416"/>
                </a:lnTo>
                <a:lnTo>
                  <a:pt x="0" y="530341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568490" y="3929547"/>
            <a:ext cx="2338510" cy="463450"/>
          </a:xfrm>
          <a:custGeom>
            <a:avLst/>
            <a:gdLst/>
            <a:ahLst/>
            <a:cxnLst/>
            <a:rect r="r" b="b" t="t" l="l"/>
            <a:pathLst>
              <a:path h="463450" w="2338510">
                <a:moveTo>
                  <a:pt x="0" y="0"/>
                </a:moveTo>
                <a:lnTo>
                  <a:pt x="2338510" y="0"/>
                </a:lnTo>
                <a:lnTo>
                  <a:pt x="2338510" y="463450"/>
                </a:lnTo>
                <a:lnTo>
                  <a:pt x="0" y="46345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194750" y="502984"/>
            <a:ext cx="4129100" cy="3558533"/>
          </a:xfrm>
          <a:custGeom>
            <a:avLst/>
            <a:gdLst/>
            <a:ahLst/>
            <a:cxnLst/>
            <a:rect r="r" b="b" t="t" l="l"/>
            <a:pathLst>
              <a:path h="3558533" w="4129100">
                <a:moveTo>
                  <a:pt x="0" y="0"/>
                </a:moveTo>
                <a:lnTo>
                  <a:pt x="4129100" y="0"/>
                </a:lnTo>
                <a:lnTo>
                  <a:pt x="4129100" y="3558533"/>
                </a:lnTo>
                <a:lnTo>
                  <a:pt x="0" y="355853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3124518" y="1150743"/>
            <a:ext cx="9706379" cy="792357"/>
          </a:xfrm>
          <a:custGeom>
            <a:avLst/>
            <a:gdLst/>
            <a:ahLst/>
            <a:cxnLst/>
            <a:rect r="r" b="b" t="t" l="l"/>
            <a:pathLst>
              <a:path h="792357" w="9706379">
                <a:moveTo>
                  <a:pt x="0" y="0"/>
                </a:moveTo>
                <a:lnTo>
                  <a:pt x="9706379" y="0"/>
                </a:lnTo>
                <a:lnTo>
                  <a:pt x="9706379" y="792357"/>
                </a:lnTo>
                <a:lnTo>
                  <a:pt x="0" y="79235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true" rot="0">
            <a:off x="-209915" y="7470167"/>
            <a:ext cx="3603326" cy="2764734"/>
          </a:xfrm>
          <a:custGeom>
            <a:avLst/>
            <a:gdLst/>
            <a:ahLst/>
            <a:cxnLst/>
            <a:rect r="r" b="b" t="t" l="l"/>
            <a:pathLst>
              <a:path h="2764734" w="3603326">
                <a:moveTo>
                  <a:pt x="3603327" y="2764734"/>
                </a:moveTo>
                <a:lnTo>
                  <a:pt x="0" y="2764734"/>
                </a:lnTo>
                <a:lnTo>
                  <a:pt x="0" y="0"/>
                </a:lnTo>
                <a:lnTo>
                  <a:pt x="3603327" y="0"/>
                </a:lnTo>
                <a:lnTo>
                  <a:pt x="3603327" y="2764734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3792349" y="904875"/>
            <a:ext cx="7248475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00"/>
              </a:lnSpc>
              <a:spcBef>
                <a:spcPct val="0"/>
              </a:spcBef>
            </a:pPr>
            <a:r>
              <a:rPr lang="en-US" sz="6000">
                <a:solidFill>
                  <a:srgbClr val="FFFFFF"/>
                </a:solidFill>
                <a:latin typeface="Bank Gothic Light"/>
                <a:ea typeface="Bank Gothic Light"/>
                <a:cs typeface="Bank Gothic Light"/>
                <a:sym typeface="Bank Gothic Light"/>
              </a:rPr>
              <a:t>estado actual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124518" y="1866900"/>
            <a:ext cx="10098500" cy="679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900"/>
              </a:lnSpc>
            </a:pPr>
            <a:r>
              <a:rPr lang="en-US" sz="3500">
                <a:solidFill>
                  <a:srgbClr val="404144"/>
                </a:solidFill>
                <a:latin typeface="Exo 2"/>
                <a:ea typeface="Exo 2"/>
                <a:cs typeface="Exo 2"/>
                <a:sym typeface="Exo 2"/>
              </a:rPr>
              <a:t>Actividades Listas.</a:t>
            </a:r>
          </a:p>
          <a:p>
            <a:pPr algn="just">
              <a:lnSpc>
                <a:spcPts val="4900"/>
              </a:lnSpc>
            </a:pPr>
          </a:p>
          <a:p>
            <a:pPr algn="l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404144"/>
                </a:solidFill>
                <a:latin typeface="Exo 2"/>
                <a:ea typeface="Exo 2"/>
                <a:cs typeface="Exo 2"/>
                <a:sym typeface="Exo 2"/>
              </a:rPr>
              <a:t>Planificacion del proyecto</a:t>
            </a:r>
          </a:p>
          <a:p>
            <a:pPr algn="l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404144"/>
                </a:solidFill>
                <a:latin typeface="Exo 2"/>
                <a:ea typeface="Exo 2"/>
                <a:cs typeface="Exo 2"/>
                <a:sym typeface="Exo 2"/>
              </a:rPr>
              <a:t>Levantamiento requerimiento</a:t>
            </a:r>
          </a:p>
          <a:p>
            <a:pPr algn="l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404144"/>
                </a:solidFill>
                <a:latin typeface="Exo 2"/>
                <a:ea typeface="Exo 2"/>
                <a:cs typeface="Exo 2"/>
                <a:sym typeface="Exo 2"/>
              </a:rPr>
              <a:t>Clasificacion d erequerimiento </a:t>
            </a:r>
          </a:p>
          <a:p>
            <a:pPr algn="l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404144"/>
                </a:solidFill>
                <a:latin typeface="Exo 2"/>
                <a:ea typeface="Exo 2"/>
                <a:cs typeface="Exo 2"/>
                <a:sym typeface="Exo 2"/>
              </a:rPr>
              <a:t>Diseño de la solucion</a:t>
            </a:r>
          </a:p>
          <a:p>
            <a:pPr algn="l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404144"/>
                </a:solidFill>
                <a:latin typeface="Exo 2"/>
                <a:ea typeface="Exo 2"/>
                <a:cs typeface="Exo 2"/>
                <a:sym typeface="Exo 2"/>
              </a:rPr>
              <a:t>Diseño modelo de datos</a:t>
            </a:r>
          </a:p>
          <a:p>
            <a:pPr algn="l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404144"/>
                </a:solidFill>
                <a:latin typeface="Exo 2"/>
                <a:ea typeface="Exo 2"/>
                <a:cs typeface="Exo 2"/>
                <a:sym typeface="Exo 2"/>
              </a:rPr>
              <a:t>Desarrollo modulo clientes y vehiculos</a:t>
            </a:r>
          </a:p>
          <a:p>
            <a:pPr algn="l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404144"/>
                </a:solidFill>
                <a:latin typeface="Exo 2"/>
                <a:ea typeface="Exo 2"/>
                <a:cs typeface="Exo 2"/>
                <a:sym typeface="Exo 2"/>
              </a:rPr>
              <a:t>Desarrollo modulo orden de trabajo.</a:t>
            </a:r>
          </a:p>
          <a:p>
            <a:pPr algn="l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404144"/>
                </a:solidFill>
                <a:latin typeface="Exo 2"/>
                <a:ea typeface="Exo 2"/>
                <a:cs typeface="Exo 2"/>
                <a:sym typeface="Exo 2"/>
              </a:rPr>
              <a:t>Dashboar(busquedad y filtro)</a:t>
            </a:r>
          </a:p>
          <a:p>
            <a:pPr algn="l" marL="755651" indent="-377825" lvl="1">
              <a:lnSpc>
                <a:spcPts val="4900"/>
              </a:lnSpc>
              <a:spcBef>
                <a:spcPct val="0"/>
              </a:spcBef>
              <a:buFont typeface="Arial"/>
              <a:buChar char="•"/>
            </a:pPr>
            <a:r>
              <a:rPr lang="en-US" sz="3500">
                <a:solidFill>
                  <a:srgbClr val="404144"/>
                </a:solidFill>
                <a:latin typeface="Exo 2"/>
                <a:ea typeface="Exo 2"/>
                <a:cs typeface="Exo 2"/>
                <a:sym typeface="Exo 2"/>
              </a:rPr>
              <a:t>Detalle y creacion de ordenes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FDA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898414" y="-370970"/>
            <a:ext cx="20372816" cy="10975855"/>
          </a:xfrm>
          <a:custGeom>
            <a:avLst/>
            <a:gdLst/>
            <a:ahLst/>
            <a:cxnLst/>
            <a:rect r="r" b="b" t="t" l="l"/>
            <a:pathLst>
              <a:path h="10975855" w="20372816">
                <a:moveTo>
                  <a:pt x="0" y="0"/>
                </a:moveTo>
                <a:lnTo>
                  <a:pt x="20372816" y="0"/>
                </a:lnTo>
                <a:lnTo>
                  <a:pt x="20372816" y="10975855"/>
                </a:lnTo>
                <a:lnTo>
                  <a:pt x="0" y="1097585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9741" t="0" r="-3969" b="-23711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038863" y="9143890"/>
            <a:ext cx="2757384" cy="546463"/>
          </a:xfrm>
          <a:custGeom>
            <a:avLst/>
            <a:gdLst/>
            <a:ahLst/>
            <a:cxnLst/>
            <a:rect r="r" b="b" t="t" l="l"/>
            <a:pathLst>
              <a:path h="546463" w="2757384">
                <a:moveTo>
                  <a:pt x="0" y="0"/>
                </a:moveTo>
                <a:lnTo>
                  <a:pt x="2757385" y="0"/>
                </a:lnTo>
                <a:lnTo>
                  <a:pt x="2757385" y="546463"/>
                </a:lnTo>
                <a:lnTo>
                  <a:pt x="0" y="54646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58818" y="5914536"/>
            <a:ext cx="3548424" cy="3548424"/>
          </a:xfrm>
          <a:custGeom>
            <a:avLst/>
            <a:gdLst/>
            <a:ahLst/>
            <a:cxnLst/>
            <a:rect r="r" b="b" t="t" l="l"/>
            <a:pathLst>
              <a:path h="3548424" w="3548424">
                <a:moveTo>
                  <a:pt x="0" y="0"/>
                </a:moveTo>
                <a:lnTo>
                  <a:pt x="3548424" y="0"/>
                </a:lnTo>
                <a:lnTo>
                  <a:pt x="3548424" y="3548424"/>
                </a:lnTo>
                <a:lnTo>
                  <a:pt x="0" y="354842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093211" y="5457028"/>
            <a:ext cx="2703037" cy="2910284"/>
          </a:xfrm>
          <a:custGeom>
            <a:avLst/>
            <a:gdLst/>
            <a:ahLst/>
            <a:cxnLst/>
            <a:rect r="r" b="b" t="t" l="l"/>
            <a:pathLst>
              <a:path h="2910284" w="2703037">
                <a:moveTo>
                  <a:pt x="0" y="0"/>
                </a:moveTo>
                <a:lnTo>
                  <a:pt x="2703037" y="0"/>
                </a:lnTo>
                <a:lnTo>
                  <a:pt x="2703037" y="2910285"/>
                </a:lnTo>
                <a:lnTo>
                  <a:pt x="0" y="291028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172720" y="1028700"/>
            <a:ext cx="17191418" cy="1509267"/>
          </a:xfrm>
          <a:custGeom>
            <a:avLst/>
            <a:gdLst/>
            <a:ahLst/>
            <a:cxnLst/>
            <a:rect r="r" b="b" t="t" l="l"/>
            <a:pathLst>
              <a:path h="1509267" w="17191418">
                <a:moveTo>
                  <a:pt x="0" y="0"/>
                </a:moveTo>
                <a:lnTo>
                  <a:pt x="17191418" y="0"/>
                </a:lnTo>
                <a:lnTo>
                  <a:pt x="17191418" y="1509267"/>
                </a:lnTo>
                <a:lnTo>
                  <a:pt x="0" y="150926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-7545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5802150" y="-89331"/>
            <a:ext cx="2914300" cy="2236063"/>
          </a:xfrm>
          <a:custGeom>
            <a:avLst/>
            <a:gdLst/>
            <a:ahLst/>
            <a:cxnLst/>
            <a:rect r="r" b="b" t="t" l="l"/>
            <a:pathLst>
              <a:path h="2236063" w="2914300">
                <a:moveTo>
                  <a:pt x="0" y="0"/>
                </a:moveTo>
                <a:lnTo>
                  <a:pt x="2914300" y="0"/>
                </a:lnTo>
                <a:lnTo>
                  <a:pt x="2914300" y="2236062"/>
                </a:lnTo>
                <a:lnTo>
                  <a:pt x="0" y="223606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true" rot="0">
            <a:off x="-399276" y="8367313"/>
            <a:ext cx="2855952" cy="2191294"/>
          </a:xfrm>
          <a:custGeom>
            <a:avLst/>
            <a:gdLst/>
            <a:ahLst/>
            <a:cxnLst/>
            <a:rect r="r" b="b" t="t" l="l"/>
            <a:pathLst>
              <a:path h="2191294" w="2855952">
                <a:moveTo>
                  <a:pt x="2855952" y="2191294"/>
                </a:moveTo>
                <a:lnTo>
                  <a:pt x="0" y="2191294"/>
                </a:lnTo>
                <a:lnTo>
                  <a:pt x="0" y="0"/>
                </a:lnTo>
                <a:lnTo>
                  <a:pt x="2855952" y="0"/>
                </a:lnTo>
                <a:lnTo>
                  <a:pt x="2855952" y="2191294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2554295" y="1202309"/>
            <a:ext cx="11536998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00"/>
              </a:lnSpc>
              <a:spcBef>
                <a:spcPct val="0"/>
              </a:spcBef>
            </a:pPr>
            <a:r>
              <a:rPr lang="en-US" sz="6000">
                <a:solidFill>
                  <a:srgbClr val="FFFFFF"/>
                </a:solidFill>
                <a:latin typeface="Bank Gothic Medium"/>
                <a:ea typeface="Bank Gothic Medium"/>
                <a:cs typeface="Bank Gothic Medium"/>
                <a:sym typeface="Bank Gothic Medium"/>
              </a:rPr>
              <a:t>Ajuste de propuesta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29805" y="2480817"/>
            <a:ext cx="15986367" cy="7487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98"/>
              </a:lnSpc>
            </a:pPr>
            <a:r>
              <a:rPr lang="en-US" sz="2855">
                <a:solidFill>
                  <a:srgbClr val="404144"/>
                </a:solidFill>
                <a:latin typeface="Exo 2"/>
                <a:ea typeface="Exo 2"/>
                <a:cs typeface="Exo 2"/>
                <a:sym typeface="Exo 2"/>
              </a:rPr>
              <a:t>Ajuste de propuesta</a:t>
            </a:r>
          </a:p>
          <a:p>
            <a:pPr algn="l">
              <a:lnSpc>
                <a:spcPts val="3998"/>
              </a:lnSpc>
            </a:pPr>
            <a:r>
              <a:rPr lang="en-US" sz="2855">
                <a:solidFill>
                  <a:srgbClr val="404144"/>
                </a:solidFill>
                <a:latin typeface="Exo 2"/>
                <a:ea typeface="Exo 2"/>
                <a:cs typeface="Exo 2"/>
                <a:sym typeface="Exo 2"/>
              </a:rPr>
              <a:t>Durante el desarrollo se realizó un ajuste en la metodología de trabajo.</a:t>
            </a:r>
          </a:p>
          <a:p>
            <a:pPr algn="l">
              <a:lnSpc>
                <a:spcPts val="3998"/>
              </a:lnSpc>
            </a:pPr>
            <a:r>
              <a:rPr lang="en-US" sz="2855">
                <a:solidFill>
                  <a:srgbClr val="404144"/>
                </a:solidFill>
                <a:latin typeface="Exo 2"/>
                <a:ea typeface="Exo 2"/>
                <a:cs typeface="Exo 2"/>
                <a:sym typeface="Exo 2"/>
              </a:rPr>
              <a:t>Inicialmente se había considerado utilizar una metodología ágil, pero debido a la forma secuencial en que se ha desarrollado el proyecto, se decidió cambiar a una metodología en cascada.</a:t>
            </a:r>
          </a:p>
          <a:p>
            <a:pPr algn="l">
              <a:lnSpc>
                <a:spcPts val="3998"/>
              </a:lnSpc>
            </a:pPr>
            <a:r>
              <a:rPr lang="en-US" sz="2855">
                <a:solidFill>
                  <a:srgbClr val="404144"/>
                </a:solidFill>
                <a:latin typeface="Exo 2"/>
                <a:ea typeface="Exo 2"/>
                <a:cs typeface="Exo 2"/>
                <a:sym typeface="Exo 2"/>
              </a:rPr>
              <a:t>Este enfoque se adapta mejor a nuestra forma de trabajo, permitiendo avanzar ordenadamente desde los requerimientos y diseño hasta el desarrollo, pruebas y validación.</a:t>
            </a:r>
          </a:p>
          <a:p>
            <a:pPr algn="l">
              <a:lnSpc>
                <a:spcPts val="3998"/>
              </a:lnSpc>
            </a:pPr>
            <a:r>
              <a:rPr lang="en-US" sz="2855">
                <a:solidFill>
                  <a:srgbClr val="404144"/>
                </a:solidFill>
                <a:latin typeface="Exo 2"/>
                <a:ea typeface="Exo 2"/>
                <a:cs typeface="Exo 2"/>
                <a:sym typeface="Exo 2"/>
              </a:rPr>
              <a:t>Facilitadores</a:t>
            </a:r>
          </a:p>
          <a:p>
            <a:pPr algn="l">
              <a:lnSpc>
                <a:spcPts val="3998"/>
              </a:lnSpc>
            </a:pPr>
            <a:r>
              <a:rPr lang="en-US" sz="2855">
                <a:solidFill>
                  <a:srgbClr val="404144"/>
                </a:solidFill>
                <a:latin typeface="Exo 2"/>
                <a:ea typeface="Exo 2"/>
                <a:cs typeface="Exo 2"/>
                <a:sym typeface="Exo 2"/>
              </a:rPr>
              <a:t>• Buena comunicación y coordinación del equipo.</a:t>
            </a:r>
          </a:p>
          <a:p>
            <a:pPr algn="l">
              <a:lnSpc>
                <a:spcPts val="3998"/>
              </a:lnSpc>
            </a:pPr>
            <a:r>
              <a:rPr lang="en-US" sz="2855">
                <a:solidFill>
                  <a:srgbClr val="404144"/>
                </a:solidFill>
                <a:latin typeface="Exo 2"/>
                <a:ea typeface="Exo 2"/>
                <a:cs typeface="Exo 2"/>
                <a:sym typeface="Exo 2"/>
              </a:rPr>
              <a:t>• Actividades claramente definidas.</a:t>
            </a:r>
          </a:p>
          <a:p>
            <a:pPr algn="l">
              <a:lnSpc>
                <a:spcPts val="3998"/>
              </a:lnSpc>
            </a:pPr>
            <a:r>
              <a:rPr lang="en-US" sz="2855">
                <a:solidFill>
                  <a:srgbClr val="404144"/>
                </a:solidFill>
                <a:latin typeface="Exo 2"/>
                <a:ea typeface="Exo 2"/>
                <a:cs typeface="Exo 2"/>
                <a:sym typeface="Exo 2"/>
              </a:rPr>
              <a:t>• Conocimiento de las tecnologías utilizadas.</a:t>
            </a:r>
          </a:p>
          <a:p>
            <a:pPr algn="l">
              <a:lnSpc>
                <a:spcPts val="3998"/>
              </a:lnSpc>
            </a:pPr>
            <a:r>
              <a:rPr lang="en-US" sz="2855">
                <a:solidFill>
                  <a:srgbClr val="404144"/>
                </a:solidFill>
                <a:latin typeface="Exo 2"/>
                <a:ea typeface="Exo 2"/>
                <a:cs typeface="Exo 2"/>
                <a:sym typeface="Exo 2"/>
              </a:rPr>
              <a:t>• Compromiso con las tareas asignadas.</a:t>
            </a:r>
          </a:p>
          <a:p>
            <a:pPr algn="l">
              <a:lnSpc>
                <a:spcPts val="3998"/>
              </a:lnSpc>
            </a:pPr>
            <a:r>
              <a:rPr lang="en-US" sz="2855">
                <a:solidFill>
                  <a:srgbClr val="404144"/>
                </a:solidFill>
                <a:latin typeface="Exo 2"/>
                <a:ea typeface="Exo 2"/>
                <a:cs typeface="Exo 2"/>
                <a:sym typeface="Exo 2"/>
              </a:rPr>
              <a:t>Es la misma idea de tu presentación actual, pero con la redacción corregida. Tu versión ya señala el cambio de metodología ágil a cascada.  Taller 360</a:t>
            </a:r>
          </a:p>
          <a:p>
            <a:pPr algn="l">
              <a:lnSpc>
                <a:spcPts val="3998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FDA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898414" y="-370970"/>
            <a:ext cx="20372816" cy="10975855"/>
          </a:xfrm>
          <a:custGeom>
            <a:avLst/>
            <a:gdLst/>
            <a:ahLst/>
            <a:cxnLst/>
            <a:rect r="r" b="b" t="t" l="l"/>
            <a:pathLst>
              <a:path h="10975855" w="20372816">
                <a:moveTo>
                  <a:pt x="0" y="0"/>
                </a:moveTo>
                <a:lnTo>
                  <a:pt x="20372816" y="0"/>
                </a:lnTo>
                <a:lnTo>
                  <a:pt x="20372816" y="10975855"/>
                </a:lnTo>
                <a:lnTo>
                  <a:pt x="0" y="1097585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9741" t="0" r="-3969" b="-23711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58818" y="5914536"/>
            <a:ext cx="3548424" cy="3548424"/>
          </a:xfrm>
          <a:custGeom>
            <a:avLst/>
            <a:gdLst/>
            <a:ahLst/>
            <a:cxnLst/>
            <a:rect r="r" b="b" t="t" l="l"/>
            <a:pathLst>
              <a:path h="3548424" w="3548424">
                <a:moveTo>
                  <a:pt x="0" y="0"/>
                </a:moveTo>
                <a:lnTo>
                  <a:pt x="3548424" y="0"/>
                </a:lnTo>
                <a:lnTo>
                  <a:pt x="3548424" y="3548424"/>
                </a:lnTo>
                <a:lnTo>
                  <a:pt x="0" y="354842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300585" y="0"/>
            <a:ext cx="18889170" cy="1658316"/>
          </a:xfrm>
          <a:custGeom>
            <a:avLst/>
            <a:gdLst/>
            <a:ahLst/>
            <a:cxnLst/>
            <a:rect r="r" b="b" t="t" l="l"/>
            <a:pathLst>
              <a:path h="1658316" w="18889170">
                <a:moveTo>
                  <a:pt x="0" y="0"/>
                </a:moveTo>
                <a:lnTo>
                  <a:pt x="18889170" y="0"/>
                </a:lnTo>
                <a:lnTo>
                  <a:pt x="18889170" y="1658316"/>
                </a:lnTo>
                <a:lnTo>
                  <a:pt x="0" y="165831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7545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0">
            <a:off x="-399276" y="8367313"/>
            <a:ext cx="2855952" cy="2191294"/>
          </a:xfrm>
          <a:custGeom>
            <a:avLst/>
            <a:gdLst/>
            <a:ahLst/>
            <a:cxnLst/>
            <a:rect r="r" b="b" t="t" l="l"/>
            <a:pathLst>
              <a:path h="2191294" w="2855952">
                <a:moveTo>
                  <a:pt x="2855952" y="2191294"/>
                </a:moveTo>
                <a:lnTo>
                  <a:pt x="0" y="2191294"/>
                </a:lnTo>
                <a:lnTo>
                  <a:pt x="0" y="0"/>
                </a:lnTo>
                <a:lnTo>
                  <a:pt x="2855952" y="0"/>
                </a:lnTo>
                <a:lnTo>
                  <a:pt x="2855952" y="2191294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75468" y="1658316"/>
            <a:ext cx="14402328" cy="10753738"/>
          </a:xfrm>
          <a:custGeom>
            <a:avLst/>
            <a:gdLst/>
            <a:ahLst/>
            <a:cxnLst/>
            <a:rect r="r" b="b" t="t" l="l"/>
            <a:pathLst>
              <a:path h="10753738" w="14402328">
                <a:moveTo>
                  <a:pt x="0" y="0"/>
                </a:moveTo>
                <a:lnTo>
                  <a:pt x="14402329" y="0"/>
                </a:lnTo>
                <a:lnTo>
                  <a:pt x="14402329" y="10753739"/>
                </a:lnTo>
                <a:lnTo>
                  <a:pt x="0" y="1075373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675468" y="322105"/>
            <a:ext cx="12726860" cy="9093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90"/>
              </a:lnSpc>
              <a:spcBef>
                <a:spcPct val="0"/>
              </a:spcBef>
            </a:pPr>
            <a:r>
              <a:rPr lang="en-US" sz="5279">
                <a:solidFill>
                  <a:srgbClr val="FFFFFF"/>
                </a:solidFill>
                <a:latin typeface="Bank Gothic Medium"/>
                <a:ea typeface="Bank Gothic Medium"/>
                <a:cs typeface="Bank Gothic Medium"/>
                <a:sym typeface="Bank Gothic Medium"/>
              </a:rPr>
              <a:t>Monitoreo de plan de trabajo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FDA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898414" y="-370970"/>
            <a:ext cx="20372816" cy="10975855"/>
          </a:xfrm>
          <a:custGeom>
            <a:avLst/>
            <a:gdLst/>
            <a:ahLst/>
            <a:cxnLst/>
            <a:rect r="r" b="b" t="t" l="l"/>
            <a:pathLst>
              <a:path h="10975855" w="20372816">
                <a:moveTo>
                  <a:pt x="0" y="0"/>
                </a:moveTo>
                <a:lnTo>
                  <a:pt x="20372816" y="0"/>
                </a:lnTo>
                <a:lnTo>
                  <a:pt x="20372816" y="10975855"/>
                </a:lnTo>
                <a:lnTo>
                  <a:pt x="0" y="1097585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90243" y="1357565"/>
            <a:ext cx="7272716" cy="7518785"/>
          </a:xfrm>
          <a:custGeom>
            <a:avLst/>
            <a:gdLst/>
            <a:ahLst/>
            <a:cxnLst/>
            <a:rect r="r" b="b" t="t" l="l"/>
            <a:pathLst>
              <a:path h="7518785" w="7272716">
                <a:moveTo>
                  <a:pt x="0" y="0"/>
                </a:moveTo>
                <a:lnTo>
                  <a:pt x="7272715" y="0"/>
                </a:lnTo>
                <a:lnTo>
                  <a:pt x="7272715" y="7518785"/>
                </a:lnTo>
                <a:lnTo>
                  <a:pt x="0" y="751878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48821" y="8876350"/>
            <a:ext cx="4655864" cy="922707"/>
          </a:xfrm>
          <a:custGeom>
            <a:avLst/>
            <a:gdLst/>
            <a:ahLst/>
            <a:cxnLst/>
            <a:rect r="r" b="b" t="t" l="l"/>
            <a:pathLst>
              <a:path h="922707" w="4655864">
                <a:moveTo>
                  <a:pt x="0" y="0"/>
                </a:moveTo>
                <a:lnTo>
                  <a:pt x="4655864" y="0"/>
                </a:lnTo>
                <a:lnTo>
                  <a:pt x="4655864" y="922708"/>
                </a:lnTo>
                <a:lnTo>
                  <a:pt x="0" y="92270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258818" y="555017"/>
            <a:ext cx="8444224" cy="8444224"/>
          </a:xfrm>
          <a:custGeom>
            <a:avLst/>
            <a:gdLst/>
            <a:ahLst/>
            <a:cxnLst/>
            <a:rect r="r" b="b" t="t" l="l"/>
            <a:pathLst>
              <a:path h="8444224" w="8444224">
                <a:moveTo>
                  <a:pt x="0" y="0"/>
                </a:moveTo>
                <a:lnTo>
                  <a:pt x="8444224" y="0"/>
                </a:lnTo>
                <a:lnTo>
                  <a:pt x="8444224" y="8444225"/>
                </a:lnTo>
                <a:lnTo>
                  <a:pt x="0" y="844422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28700" y="1695629"/>
            <a:ext cx="5724121" cy="6163002"/>
          </a:xfrm>
          <a:custGeom>
            <a:avLst/>
            <a:gdLst/>
            <a:ahLst/>
            <a:cxnLst/>
            <a:rect r="r" b="b" t="t" l="l"/>
            <a:pathLst>
              <a:path h="6163002" w="5724121">
                <a:moveTo>
                  <a:pt x="0" y="0"/>
                </a:moveTo>
                <a:lnTo>
                  <a:pt x="5724121" y="0"/>
                </a:lnTo>
                <a:lnTo>
                  <a:pt x="5724121" y="6163001"/>
                </a:lnTo>
                <a:lnTo>
                  <a:pt x="0" y="616300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2757176" y="6609861"/>
            <a:ext cx="3447509" cy="2971126"/>
          </a:xfrm>
          <a:custGeom>
            <a:avLst/>
            <a:gdLst/>
            <a:ahLst/>
            <a:cxnLst/>
            <a:rect r="r" b="b" t="t" l="l"/>
            <a:pathLst>
              <a:path h="2971126" w="3447509">
                <a:moveTo>
                  <a:pt x="0" y="0"/>
                </a:moveTo>
                <a:lnTo>
                  <a:pt x="3447509" y="0"/>
                </a:lnTo>
                <a:lnTo>
                  <a:pt x="3447509" y="2971126"/>
                </a:lnTo>
                <a:lnTo>
                  <a:pt x="0" y="2971126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false" rot="0">
            <a:off x="-463915" y="-147326"/>
            <a:ext cx="2599929" cy="1994855"/>
          </a:xfrm>
          <a:custGeom>
            <a:avLst/>
            <a:gdLst/>
            <a:ahLst/>
            <a:cxnLst/>
            <a:rect r="r" b="b" t="t" l="l"/>
            <a:pathLst>
              <a:path h="1994855" w="2599929">
                <a:moveTo>
                  <a:pt x="2599930" y="0"/>
                </a:moveTo>
                <a:lnTo>
                  <a:pt x="0" y="0"/>
                </a:lnTo>
                <a:lnTo>
                  <a:pt x="0" y="1994855"/>
                </a:lnTo>
                <a:lnTo>
                  <a:pt x="2599930" y="1994855"/>
                </a:lnTo>
                <a:lnTo>
                  <a:pt x="259993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true" rot="0">
            <a:off x="15297424" y="7987045"/>
            <a:ext cx="3520674" cy="2701317"/>
          </a:xfrm>
          <a:custGeom>
            <a:avLst/>
            <a:gdLst/>
            <a:ahLst/>
            <a:cxnLst/>
            <a:rect r="r" b="b" t="t" l="l"/>
            <a:pathLst>
              <a:path h="2701317" w="3520674">
                <a:moveTo>
                  <a:pt x="0" y="2701317"/>
                </a:moveTo>
                <a:lnTo>
                  <a:pt x="3520674" y="2701317"/>
                </a:lnTo>
                <a:lnTo>
                  <a:pt x="3520674" y="0"/>
                </a:lnTo>
                <a:lnTo>
                  <a:pt x="0" y="0"/>
                </a:lnTo>
                <a:lnTo>
                  <a:pt x="0" y="2701317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8190098" y="3841872"/>
            <a:ext cx="8620075" cy="2118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223"/>
              </a:lnSpc>
            </a:pPr>
            <a:r>
              <a:rPr lang="en-US" sz="15534">
                <a:solidFill>
                  <a:srgbClr val="404144"/>
                </a:solidFill>
                <a:latin typeface="Was Gayji NP"/>
                <a:ea typeface="Was Gayji NP"/>
                <a:cs typeface="Was Gayji NP"/>
                <a:sym typeface="Was Gayji NP"/>
              </a:rPr>
              <a:t>Demo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DAHXWeuz-tQ</dc:identifier>
  <dcterms:modified xsi:type="dcterms:W3CDTF">2011-08-01T06:04:30Z</dcterms:modified>
  <cp:revision>1</cp:revision>
  <dc:title>Grey Orange Geometric Engine Illustration Workshop Automotive Presentation </dc:title>
</cp:coreProperties>
</file>